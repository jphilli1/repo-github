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Normalization &amp; Segmentation Methodology (Appendix)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 of Normalization</a:t>
            </a:r>
          </a:p>
          <a:p>
            <a:r>
              <a:t>• Peer set includes GSIBs with materially different business models</a:t>
            </a:r>
          </a:p>
          <a:p>
            <a:r>
              <a:t>• Raw FDIC metrics distorted by mass-market consumer, construction, and broad C&amp;I lending</a:t>
            </a:r>
          </a:p>
          <a:p>
            <a:r>
              <a:t>• Objective: enable apples-to-apples comparison for a private bank / wealth-centric model</a:t>
            </a:r>
          </a:p>
          <a:p/>
          <a:p>
            <a:r>
              <a:t>Explicit Clarifications</a:t>
            </a:r>
          </a:p>
          <a:p>
            <a:r>
              <a:t>• Not a regulatory capital adjustment</a:t>
            </a:r>
          </a:p>
          <a:p>
            <a:r>
              <a:t>• Not a GAAP or CECL restatement</a:t>
            </a:r>
          </a:p>
          <a:p>
            <a:r>
              <a:t>• Analytical comparability framework only</a:t>
            </a:r>
          </a:p>
          <a:p/>
          <a:p>
            <a:r>
              <a:t>Scope – Excluded Segments</a:t>
            </a:r>
          </a:p>
          <a:p>
            <a:r>
              <a:t>• Domestic C&amp;I (mass-market)</a:t>
            </a:r>
          </a:p>
          <a:p>
            <a:r>
              <a:t>• Construction / ADC</a:t>
            </a:r>
          </a:p>
          <a:p>
            <a:r>
              <a:t>• Consumer Credit Cards and Auto</a:t>
            </a:r>
          </a:p>
          <a:p>
            <a:r>
              <a:t>• Agriculture</a:t>
            </a:r>
          </a:p>
          <a:p>
            <a:r>
              <a:t>• Fund Finance / NDFI</a:t>
            </a:r>
          </a:p>
          <a:p>
            <a:r>
              <a:t>• Interbank &amp; Foreign Sovereign Lending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Normalization Mechanics, Governance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Normalization Mechanics</a:t>
            </a:r>
          </a:p>
          <a:p>
            <a:r>
              <a:t>• Normalized Gross Loans = Total Loans − Excluded Segments</a:t>
            </a:r>
          </a:p>
          <a:p>
            <a:r>
              <a:t>• Nonaccruals, PD30, PD90, NCOs recalculated on normalized scope</a:t>
            </a:r>
          </a:p>
          <a:p>
            <a:r>
              <a:t>• Ratios recomputed only after consistent exclusions</a:t>
            </a:r>
          </a:p>
          <a:p/>
          <a:p>
            <a:r>
              <a:t>Segment-Level Risk Attribution</a:t>
            </a:r>
          </a:p>
          <a:p>
            <a:r>
              <a:t>• Shows where risk resides vs how much risk exists</a:t>
            </a:r>
          </a:p>
          <a:p>
            <a:r>
              <a:t>• Supports interpretation of CRE, C&amp;I, and wealth-linked exposures</a:t>
            </a:r>
          </a:p>
          <a:p/>
          <a:p>
            <a:r>
              <a:t>Key Assumptions</a:t>
            </a:r>
          </a:p>
          <a:p>
            <a:r>
              <a:t>• Fund finance NCOs assumed immaterial due to disclosure limits</a:t>
            </a:r>
          </a:p>
          <a:p>
            <a:r>
              <a:t>• Allowance allocated proportionally unless explicitly segmented</a:t>
            </a:r>
          </a:p>
          <a:p>
            <a:r>
              <a:t>• Domestic vs consolidated fields treated as economically comparable</a:t>
            </a:r>
          </a:p>
          <a:p>
            <a:r>
              <a:t>• Directional trends unchanged; comparability improved</a:t>
            </a:r>
          </a:p>
          <a:p/>
          <a:p>
            <a:r>
              <a:t>Governance &amp; Limitations</a:t>
            </a:r>
          </a:p>
          <a:p>
            <a:r>
              <a:t>• Fully traceable to FDIC Call Reports</a:t>
            </a:r>
          </a:p>
          <a:p>
            <a:r>
              <a:t>• Reproducible quarter-to-quarter; raw metrics retained</a:t>
            </a:r>
          </a:p>
          <a:p>
            <a:r>
              <a:t>• Comparative analytics only; not regulatory measures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